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3110</c:v>
                </c:pt>
                <c:pt idx="1">
                  <c:v>2890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88-49AA-81EC-9061062A1B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30-50</c:v>
                </c:pt>
                <c:pt idx="1">
                  <c:v>Over 70</c:v>
                </c:pt>
                <c:pt idx="2">
                  <c:v>51-70</c:v>
                </c:pt>
                <c:pt idx="3">
                  <c:v>Under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506</c:v>
                </c:pt>
                <c:pt idx="1">
                  <c:v>500</c:v>
                </c:pt>
                <c:pt idx="2">
                  <c:v>464</c:v>
                </c:pt>
                <c:pt idx="3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E-49DD-B035-F56590189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7981840"/>
        <c:axId val="797986640"/>
      </c:barChart>
      <c:catAx>
        <c:axId val="79798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7986640"/>
        <c:crosses val="autoZero"/>
        <c:auto val="1"/>
        <c:lblAlgn val="ctr"/>
        <c:lblOffset val="100"/>
        <c:noMultiLvlLbl val="0"/>
      </c:catAx>
      <c:valAx>
        <c:axId val="797986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79818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GB" sz="1862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F0502020204030204"/>
              </a:rPr>
              <a:t>Readmission Analysis by Number of Diagnoses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DIAGNOSES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Sheet1!$A$2:$A$10</c:f>
              <c:numCache>
                <c:formatCode>General</c:formatCode>
                <c:ptCount val="9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23-4CE2-9B10-F6FE7ECD419C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TOTAL_PATIENTS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Sheet1!$B$2:$B$10</c:f>
              <c:numCache>
                <c:formatCode>General</c:formatCode>
                <c:ptCount val="9"/>
                <c:pt idx="0">
                  <c:v>630</c:v>
                </c:pt>
                <c:pt idx="1">
                  <c:v>670</c:v>
                </c:pt>
                <c:pt idx="2">
                  <c:v>678</c:v>
                </c:pt>
                <c:pt idx="3">
                  <c:v>620</c:v>
                </c:pt>
                <c:pt idx="4">
                  <c:v>688</c:v>
                </c:pt>
                <c:pt idx="5">
                  <c:v>704</c:v>
                </c:pt>
                <c:pt idx="6">
                  <c:v>662</c:v>
                </c:pt>
                <c:pt idx="7">
                  <c:v>654</c:v>
                </c:pt>
                <c:pt idx="8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23-4CE2-9B10-F6FE7ECD419C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READMISSIONS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val>
            <c:numRef>
              <c:f>Sheet1!$C$2:$C$10</c:f>
              <c:numCache>
                <c:formatCode>General</c:formatCode>
                <c:ptCount val="9"/>
                <c:pt idx="0">
                  <c:v>206</c:v>
                </c:pt>
                <c:pt idx="1">
                  <c:v>212</c:v>
                </c:pt>
                <c:pt idx="2">
                  <c:v>170</c:v>
                </c:pt>
                <c:pt idx="3">
                  <c:v>184</c:v>
                </c:pt>
                <c:pt idx="4">
                  <c:v>172</c:v>
                </c:pt>
                <c:pt idx="5">
                  <c:v>186</c:v>
                </c:pt>
                <c:pt idx="6">
                  <c:v>210</c:v>
                </c:pt>
                <c:pt idx="7">
                  <c:v>178</c:v>
                </c:pt>
                <c:pt idx="8">
                  <c:v>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23-4CE2-9B10-F6FE7ECD419C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 READMISSION_RATE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val>
            <c:numRef>
              <c:f>Sheet1!$D$2:$D$10</c:f>
              <c:numCache>
                <c:formatCode>_(* #,##0.00_);_(* \(#,##0.00\);_(* "-"??_);_(@_)</c:formatCode>
                <c:ptCount val="9"/>
                <c:pt idx="0">
                  <c:v>32.698413000000002</c:v>
                </c:pt>
                <c:pt idx="1">
                  <c:v>31.641791000000001</c:v>
                </c:pt>
                <c:pt idx="2">
                  <c:v>25.073746</c:v>
                </c:pt>
                <c:pt idx="3">
                  <c:v>29.677419</c:v>
                </c:pt>
                <c:pt idx="4">
                  <c:v>25</c:v>
                </c:pt>
                <c:pt idx="5">
                  <c:v>26.420455</c:v>
                </c:pt>
                <c:pt idx="6">
                  <c:v>31.722054</c:v>
                </c:pt>
                <c:pt idx="7">
                  <c:v>27.217124999999999</c:v>
                </c:pt>
                <c:pt idx="8">
                  <c:v>30.835735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23-4CE2-9B10-F6FE7ECD4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shape val="box"/>
        <c:axId val="1107743808"/>
        <c:axId val="1107745728"/>
        <c:axId val="0"/>
      </c:bar3DChart>
      <c:catAx>
        <c:axId val="110774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745728"/>
        <c:crosses val="autoZero"/>
        <c:auto val="1"/>
        <c:lblAlgn val="ctr"/>
        <c:lblOffset val="100"/>
        <c:noMultiLvlLbl val="0"/>
      </c:catAx>
      <c:valAx>
        <c:axId val="1107745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74380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862" b="0" i="0" u="none" strike="noStrike" baseline="0" dirty="0"/>
              <a:t>Readmission Insights by Admission Type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Elective</c:v>
                </c:pt>
                <c:pt idx="1">
                  <c:v>Emergency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918</c:v>
                </c:pt>
                <c:pt idx="1">
                  <c:v>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C8-4AA5-8AC3-AC87D6FE03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PERCENT_OF_TOTAL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Elective</c:v>
                </c:pt>
                <c:pt idx="1">
                  <c:v>Emergency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C8-4AA5-8AC3-AC87D6FE03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07439920"/>
        <c:axId val="1007451920"/>
      </c:barChart>
      <c:catAx>
        <c:axId val="100743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7451920"/>
        <c:crosses val="autoZero"/>
        <c:auto val="1"/>
        <c:lblAlgn val="ctr"/>
        <c:lblOffset val="100"/>
        <c:noMultiLvlLbl val="0"/>
      </c:catAx>
      <c:valAx>
        <c:axId val="1007451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743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Hospital Analysis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291" y="4608576"/>
            <a:ext cx="3535242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Musawakhe Andrew nzama</a:t>
            </a: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Hospitalised Patients by Gender</a:t>
            </a:r>
          </a:p>
        </p:txBody>
      </p:sp>
      <p:pic>
        <p:nvPicPr>
          <p:cNvPr id="10" name="Content Placeholder 9" descr="A person and person symbols&#10;&#10;Description automatically generated">
            <a:extLst>
              <a:ext uri="{FF2B5EF4-FFF2-40B4-BE49-F238E27FC236}">
                <a16:creationId xmlns:a16="http://schemas.microsoft.com/office/drawing/2014/main" id="{9C2B44F6-F888-4983-7A20-BADFAA1E72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2181276"/>
            <a:ext cx="4133481" cy="4133481"/>
          </a:xfrm>
        </p:spPr>
      </p:pic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0FAE12DB-62CE-FFBC-D623-74C7F5F786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5708186"/>
              </p:ext>
            </p:extLst>
          </p:nvPr>
        </p:nvGraphicFramePr>
        <p:xfrm>
          <a:off x="6516688" y="2120900"/>
          <a:ext cx="4638675" cy="3748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0491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Hospitalised Patients by Gender –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26211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Readmissions are relatively balanced between male and female patients, indicating that gender alone is not a strong predictor of readmission.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Slight variations may exist month-to-month, but no significant gender bias is observed.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In the high-risk 51–70 age group, both genders show similarly high readmission rates, indicating that age and comorbidities play a larger role than gender.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Younger age groups generally show no major difference between males and females.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150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Readmission Count by Age Group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E504D6-8096-1207-8387-A1A9D1B60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555184"/>
              </p:ext>
            </p:extLst>
          </p:nvPr>
        </p:nvGraphicFramePr>
        <p:xfrm>
          <a:off x="1096963" y="2108200"/>
          <a:ext cx="10058400" cy="2620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101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Readmission Count by Age Group–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518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Patients aged 51–70 show the highest readmission rates across all departments. This group typically has multiple chronic illnesses, increasing the likelihood of complications post-discharge.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They benefit most from post-discharge follow-ups, medication reviews, and chronic care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70+ group also shows elevated readmission rates, but not as consistently as the 51–70 cohort.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30 under shows Low readmission rates overall.</a:t>
            </a:r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1720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Readmission Analysis by Number of Diagnoses</a:t>
            </a:r>
            <a:endParaRPr lang="en-Z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98A07D-BADD-65BE-07B6-CBDA389A7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231937"/>
              </p:ext>
            </p:extLst>
          </p:nvPr>
        </p:nvGraphicFramePr>
        <p:xfrm>
          <a:off x="1096963" y="2108200"/>
          <a:ext cx="10058400" cy="3751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559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Readmission Analysis by Number of Diagnoses </a:t>
            </a:r>
            <a:r>
              <a:rPr lang="en-ZA" dirty="0"/>
              <a:t>–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518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Highest readmission rates seen in patients with 1, 3, 8, and 9 diagnoses (~31–33%).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Moderate rates in patients with 2 and 6 diagnoses (~27–30%).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Lowest rates in patients with 4, 5, and 7 diagnoses (~25%).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Key takeaway: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Focus on high-diagnosis patients and outliers with few diagnoses for targeted interventions.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9325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Readmission Insights by Admission Type</a:t>
            </a:r>
            <a:endParaRPr lang="en-Z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8B984D-CC52-47AB-22B9-692A4FB1D7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527833"/>
              </p:ext>
            </p:extLst>
          </p:nvPr>
        </p:nvGraphicFramePr>
        <p:xfrm>
          <a:off x="1096963" y="2108200"/>
          <a:ext cx="10058400" cy="3751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6929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Readmission Analysis by Number of Diagnoses </a:t>
            </a:r>
            <a:r>
              <a:rPr lang="en-ZA" dirty="0"/>
              <a:t>–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518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Elective admissions account for a slightly higher share of readmissions (53%) compared to emergency admissions (47%).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This suggests that planned procedures still carry a significant risk of readmission, potentially due to: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Post-surgical complications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Recovery issues, or incomplete follow-up care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Emergency admissions are slightly lower in proportion, but still represent nearly half of all readmissions, indicating that acute cases remain a major contributor.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424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286603"/>
            <a:ext cx="10146892" cy="1450757"/>
          </a:xfrm>
        </p:spPr>
        <p:txBody>
          <a:bodyPr/>
          <a:lstStyle/>
          <a:p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1" y="2108201"/>
            <a:ext cx="10943303" cy="4272934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High-Risk Patient Monitoring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Implement post-discharge follow-ups for patients aged 51+ and those with multiple comorbidities.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Focus on early intervention within 48–72 hours of discharge.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Departmental Focus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Prioritize Cardiology and General Surgery for readmission reduction programs.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Conduct root-cause analyses for common readmission drivers in these departments.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Targeted Preventive Care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Develop personalized care plans for patients with frequent admissions.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Include education programs, remote monitoring, and chronic condition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Admission Type Interventions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Enhance discharge planning and post-operative follow-up for elective admissions.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Strengthen stabilization and follow-up for emergency admissions.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Performance Tracking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Use dashboards to monitor monthly readmission trends by age, gender, diagnoses, and department.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Track the effectiveness of interventions to continuously improve patient outcomes.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800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616BF6-1F02-C177-7531-0F74F708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286603"/>
            <a:ext cx="10146892" cy="1450757"/>
          </a:xfrm>
        </p:spPr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DB9C-1429-C641-3D8E-3988781E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1" y="2108201"/>
            <a:ext cx="10943303" cy="34175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Readmission risk is influenced more by age, comorbidities, diagnoses, and department, rather than gender alone.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51–70 age group, patients with multiple diagnoses, and those in Cardiology/General Surgery are the highest priority for interventions.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Both elective and emergency admissions contribute significantly to readmissions, so strategies must be comprehensive and patient-focused.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Implementing targeted follow-ups, preventive care, and real-time monitoring can reduce readmissions, improve patient outcomes, and optimize hospital resources.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65241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{397961E8-B6E6-4C8C-B3B6-54A28C7F7298}tf22712842_win32</Template>
  <TotalTime>43</TotalTime>
  <Words>561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Wingdings</vt:lpstr>
      <vt:lpstr>Custom</vt:lpstr>
      <vt:lpstr>Hospital Analysis</vt:lpstr>
      <vt:lpstr>Hospitalised Patients by Gender</vt:lpstr>
      <vt:lpstr>Hospitalised Patients by Gender – Insights </vt:lpstr>
      <vt:lpstr>Readmission Count by Age Group</vt:lpstr>
      <vt:lpstr>Readmission Count by Age Group– Insights </vt:lpstr>
      <vt:lpstr>Readmission Analysis by Number of Diagnoses</vt:lpstr>
      <vt:lpstr>Readmission Analysis by Number of Diagnoses – Insights </vt:lpstr>
      <vt:lpstr>Readmission Insights by Admission Type</vt:lpstr>
      <vt:lpstr>Readmission Analysis by Number of Diagnoses – Insights 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Nzama</dc:creator>
  <cp:lastModifiedBy>Andrew Nzama</cp:lastModifiedBy>
  <cp:revision>1</cp:revision>
  <dcterms:created xsi:type="dcterms:W3CDTF">2025-11-22T13:47:18Z</dcterms:created>
  <dcterms:modified xsi:type="dcterms:W3CDTF">2025-11-22T14:30:43Z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